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introduces the scientific question and the experimental setup. Emphasize that this is a proof of concept rather than clinical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explains why the normal walking sampling rate looked wrong. The raw duration was affected by a 56.7-second gap. After segment detection, both accelerometer rates are roughly 51 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should be presented as the analytics answer. Explain the pipeline: magnitude calculation, baseline removal, feature extraction and feature comparison. The strongest result is peak interval variability, roughly doubled in unstable walking.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10 · Digital Biomarker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Scientific question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Smartphone motion sensors as a proof‑of‑concept digital biomarker for gait stability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5486400" cy="1261872"/>
          </a:xfrm>
          <a:prstGeom prst="roundRect">
            <a:avLst>
              <a:gd name="adj" fmla="val 11594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64208"/>
            <a:ext cx="49834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accelerometer and gyroscope signals distinguish normal walking from unstable walking?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" y="28529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Hypothesis: unstable walking causes more irregular and abrupt motion patterns.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04672" y="32461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relevance: gait instability can be a signal for fall risk, balance problems, medication side effects, fatigue, or disease progression.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86384" y="4160520"/>
            <a:ext cx="2487168" cy="347472"/>
          </a:xfrm>
          <a:prstGeom prst="rect">
            <a:avLst/>
          </a:prstGeom>
          <a:solidFill>
            <a:srgbClr val="3E7CB1"/>
          </a:solidFill>
          <a:ln>
            <a:solidFill>
              <a:srgbClr val="3E7CB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1: normal walking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456432" y="4160520"/>
            <a:ext cx="2697480" cy="347472"/>
          </a:xfrm>
          <a:prstGeom prst="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2: unstable walking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86384" y="4800600"/>
            <a:ext cx="120700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" y="491032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7824" y="530352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4800600"/>
            <a:ext cx="120700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67712" y="491032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67712" y="530352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480060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49103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0" y="5303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sensors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02352" y="4800600"/>
            <a:ext cx="138988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93792" y="491032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8.88s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93792" y="530352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analysis window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0" y="2176272"/>
            <a:ext cx="576072" cy="0"/>
          </a:xfrm>
          <a:prstGeom prst="line">
            <a:avLst/>
          </a:prstGeom>
          <a:noFill/>
          <a:ln w="1778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46920" y="2176272"/>
            <a:ext cx="576072" cy="0"/>
          </a:xfrm>
          <a:prstGeom prst="line">
            <a:avLst/>
          </a:prstGeom>
          <a:noFill/>
          <a:ln w="1778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06840" y="3017520"/>
            <a:ext cx="0" cy="475488"/>
          </a:xfrm>
          <a:prstGeom prst="line">
            <a:avLst/>
          </a:prstGeom>
          <a:noFill/>
          <a:ln w="1778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1481328"/>
            <a:ext cx="1325880" cy="1389888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5240">
            <a:solidFill>
              <a:srgbClr val="3E7CB1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74536" y="1627632"/>
            <a:ext cx="1069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74536" y="1929384"/>
            <a:ext cx="10698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Accelerometer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Gyroscope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348472" y="1481328"/>
            <a:ext cx="1298448" cy="138988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24A19C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76488" y="1627632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A1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76488" y="1929384"/>
            <a:ext cx="10424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gaps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trim duration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resample 50 Hz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10222992" y="1481328"/>
            <a:ext cx="1335024" cy="1389888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5240">
            <a:solidFill>
              <a:srgbClr val="F28E2B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351008" y="1627632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351008" y="1929384"/>
            <a:ext cx="1078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variability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jerk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intervals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092440" y="3493008"/>
            <a:ext cx="182880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5240">
            <a:solidFill>
              <a:srgbClr val="59A14F"/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20456" y="36393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A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0456" y="3941064"/>
            <a:ext cx="1572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digital biomarkers between walking conditions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6675120" y="5193792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design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75120" y="5486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short walking recordings were analyzed from the uploaded sensor JSON. Because the raw timestamps included a gap in experiment 1, the analysis uses continuous segments and relative sensor time instead of raw wall-clock duration.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10 · Digital Biomarker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Sensors and preprocessing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raw normal-walking recording contained a large gap; the analysis uses only clean continuous segments</a:t>
            </a:r>
            <a:endParaRPr lang="en-US" sz="1300" dirty="0"/>
          </a:p>
        </p:txBody>
      </p:sp>
      <p:pic>
        <p:nvPicPr>
          <p:cNvPr id="7" name="Image 0" descr="/mnt/data/gait_assets/duration_cl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07040"/>
            <a:ext cx="5349240" cy="2752280"/>
          </a:xfrm>
          <a:prstGeom prst="rect">
            <a:avLst/>
          </a:prstGeom>
        </p:spPr>
      </p:pic>
      <p:pic>
        <p:nvPicPr>
          <p:cNvPr id="8" name="Image 1" descr="/mnt/data/gait_assets/segments_tim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46335"/>
            <a:ext cx="5349240" cy="207369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" y="4279392"/>
            <a:ext cx="11018520" cy="0"/>
          </a:xfrm>
          <a:prstGeom prst="line">
            <a:avLst/>
          </a:prstGeom>
          <a:noFill/>
          <a:ln w="12700">
            <a:solidFill>
              <a:srgbClr val="D5DF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51713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decision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94360" y="4800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gap &gt; 1 second starts a new segment. For each experiment, the longest usable continuous segment is selected.</a:t>
            </a:r>
            <a:endParaRPr lang="en-US" sz="1120" dirty="0"/>
          </a:p>
        </p:txBody>
      </p:sp>
      <p:sp>
        <p:nvSpPr>
          <p:cNvPr id="12" name="Shape 8"/>
          <p:cNvSpPr/>
          <p:nvPr/>
        </p:nvSpPr>
        <p:spPr>
          <a:xfrm>
            <a:off x="5577840" y="4453128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669280" y="45628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12.37s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669280" y="49560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clean segment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223760" y="4453128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315200" y="45628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8.88s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315200" y="49560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unstable clean segment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869680" y="4453128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961120" y="45628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A1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≈51.5 Hz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8961120" y="495604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accelerometer rate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10515600" y="4453128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10607040" y="45628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A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 Hz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0607040" y="49560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resampled analysis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94360" y="5532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 used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94360" y="581558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Primary: LSM6DSO Accelerometer for movement intensity, peak timing and jerk. Supporting: LSM6DSO Gyroscope for rotational instability.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355080" y="565099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comparison: both conditions are trimmed to the shared 8.88‑second window, so the feature values describe comparable time spans.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46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10 · Digital Biomarker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 and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are extracted from cleaned, aligned and resampled accelerometer signals</a:t>
            </a:r>
            <a:endParaRPr lang="en-US" sz="1300" dirty="0"/>
          </a:p>
        </p:txBody>
      </p:sp>
      <p:pic>
        <p:nvPicPr>
          <p:cNvPr id="7" name="Image 0" descr="/mnt/data/gait_assets/dynamic_acc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68" y="1261872"/>
            <a:ext cx="5372648" cy="2816352"/>
          </a:xfrm>
          <a:prstGeom prst="rect">
            <a:avLst/>
          </a:prstGeom>
        </p:spPr>
      </p:pic>
      <p:pic>
        <p:nvPicPr>
          <p:cNvPr id="8" name="Image 1" descr="/mnt/data/gait_assets/feature_ind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47718"/>
            <a:ext cx="5358384" cy="244465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" y="4343400"/>
            <a:ext cx="11018520" cy="0"/>
          </a:xfrm>
          <a:prstGeom prst="line">
            <a:avLst/>
          </a:prstGeom>
          <a:noFill/>
          <a:ln w="12700">
            <a:solidFill>
              <a:srgbClr val="D5DF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526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results from the notebook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5800" y="4937760"/>
            <a:ext cx="2048256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5047488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0.37 vs 0.18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77240" y="544068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interval CV unstable vs normal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944368" y="4937760"/>
            <a:ext cx="15361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035808" y="504748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+48%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035808" y="54406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acceleration range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3440" y="4937760"/>
            <a:ext cx="1325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754880" y="504748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+11%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754880" y="54406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RMS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72200" y="4937760"/>
            <a:ext cx="13258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EC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B6C2D2">
                <a:alpha val="16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263640" y="504748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+4%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263640" y="54406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absolute jerk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909560" y="4590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909560" y="49103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Unstable walking shows more irregular peak timing and larger movement spikes. This supports the idea that phone motion sensors can capture gait instability as a digital biomarker.</a:t>
            </a:r>
            <a:endParaRPr lang="en-US" sz="1140" dirty="0"/>
          </a:p>
        </p:txBody>
      </p:sp>
      <p:sp>
        <p:nvSpPr>
          <p:cNvPr id="25" name="Text 21"/>
          <p:cNvSpPr/>
          <p:nvPr/>
        </p:nvSpPr>
        <p:spPr>
          <a:xfrm>
            <a:off x="7909560" y="57424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Limitation: one participant and short trials, so this is a proof of concept, not clinical validation.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Medical Software Development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 vs Unstable Walking – Digital Biomarker Analysis</dc:title>
  <dc:subject>Exercise 10 Digital Biomarker Gait Analysis</dc:subject>
  <dc:creator>OpenAI</dc:creator>
  <cp:lastModifiedBy>OpenAI</cp:lastModifiedBy>
  <cp:revision>1</cp:revision>
  <dcterms:created xsi:type="dcterms:W3CDTF">2026-05-27T07:55:04Z</dcterms:created>
  <dcterms:modified xsi:type="dcterms:W3CDTF">2026-05-27T07:55:04Z</dcterms:modified>
</cp:coreProperties>
</file>